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37160" cy="5120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Segoe UI"/>
              </a:rPr>
              <a:t>SafeRoads: Scalable Traffic Incident &amp;
Road Hazard Intelligence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38BDF8"/>
                </a:solidFill>
                <a:latin typeface="Segoe UI"/>
              </a:rPr>
              <a:t>Distributed In-Memory Analytics with Apache Spark (Scala RDDs) &amp; PySpark MLlib | Full-Stack NoSQL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017520"/>
            <a:ext cx="10332720" cy="2926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127248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PROJECT DETAILS &amp; TEAM METADATA (GROUP 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8BDF8"/>
                </a:solidFill>
                <a:latin typeface="Segoe UI"/>
              </a:rPr>
              <a:t>Course: </a:t>
            </a:r>
            <a:r>
              <a:rPr sz="1200">
                <a:solidFill>
                  <a:srgbClr val="E2E8F0"/>
                </a:solidFill>
                <a:latin typeface="Segoe UI"/>
              </a:rPr>
              <a:t>23CSE352 - Big Data Analytics   |   </a:t>
            </a:r>
            <a:r>
              <a:rPr b="1" sz="1200">
                <a:solidFill>
                  <a:srgbClr val="38BDF8"/>
                </a:solidFill>
                <a:latin typeface="Segoe UI"/>
              </a:rPr>
              <a:t>Assessment: </a:t>
            </a:r>
            <a:r>
              <a:rPr sz="1200">
                <a:solidFill>
                  <a:srgbClr val="E2E8F0"/>
                </a:solidFill>
                <a:latin typeface="Segoe UI"/>
              </a:rPr>
              <a:t>Project Review 3 (15 Marks)   |   </a:t>
            </a:r>
            <a:r>
              <a:rPr b="1" sz="1200">
                <a:solidFill>
                  <a:srgbClr val="38BDF8"/>
                </a:solidFill>
                <a:latin typeface="Segoe UI"/>
              </a:rPr>
              <a:t>Engine: </a:t>
            </a:r>
            <a:r>
              <a:rPr sz="1200">
                <a:solidFill>
                  <a:srgbClr val="10B981"/>
                </a:solidFill>
                <a:latin typeface="Segoe UI"/>
              </a:rPr>
              <a:t>Apache Spark &amp; PySpark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9E0B"/>
                </a:solidFill>
                <a:latin typeface="Segoe UI"/>
              </a:rPr>
              <a:t>Student Team Members &amp; Register Numbers:</a:t>
            </a:r>
          </a:p>
          <a:p>
            <a:r>
              <a:rPr b="1" sz="1100">
                <a:solidFill>
                  <a:srgbClr val="38BDF8"/>
                </a:solidFill>
                <a:latin typeface="Segoe UI"/>
              </a:rPr>
              <a:t>• </a:t>
            </a:r>
            <a:r>
              <a:rPr b="1" sz="1100">
                <a:solidFill>
                  <a:srgbClr val="F8FAFC"/>
                </a:solidFill>
                <a:latin typeface="Segoe UI"/>
              </a:rPr>
              <a:t>NNN Tejesh </a:t>
            </a:r>
            <a:r>
              <a:rPr sz="1100">
                <a:solidFill>
                  <a:srgbClr val="E2E8F0"/>
                </a:solidFill>
                <a:latin typeface="Segoe UI"/>
              </a:rPr>
              <a:t>(CB.SC.U4CSE23042)</a:t>
            </a:r>
          </a:p>
          <a:p>
            <a:r>
              <a:rPr b="1" sz="1100">
                <a:solidFill>
                  <a:srgbClr val="38BDF8"/>
                </a:solidFill>
                <a:latin typeface="Segoe UI"/>
              </a:rPr>
              <a:t>• </a:t>
            </a:r>
            <a:r>
              <a:rPr b="1" sz="1100">
                <a:solidFill>
                  <a:srgbClr val="F8FAFC"/>
                </a:solidFill>
                <a:latin typeface="Segoe UI"/>
              </a:rPr>
              <a:t>A Taraka Srinivas </a:t>
            </a:r>
            <a:r>
              <a:rPr sz="1100">
                <a:solidFill>
                  <a:srgbClr val="E2E8F0"/>
                </a:solidFill>
                <a:latin typeface="Segoe UI"/>
              </a:rPr>
              <a:t>(CB.SC.U4CSE23212)</a:t>
            </a:r>
          </a:p>
          <a:p>
            <a:r>
              <a:rPr b="1" sz="1100">
                <a:solidFill>
                  <a:srgbClr val="38BDF8"/>
                </a:solidFill>
                <a:latin typeface="Segoe UI"/>
              </a:rPr>
              <a:t>• </a:t>
            </a:r>
            <a:r>
              <a:rPr b="1" sz="1100">
                <a:solidFill>
                  <a:srgbClr val="F8FAFC"/>
                </a:solidFill>
                <a:latin typeface="Segoe UI"/>
              </a:rPr>
              <a:t>K Jai Simha Reddy </a:t>
            </a:r>
            <a:r>
              <a:rPr sz="1100">
                <a:solidFill>
                  <a:srgbClr val="E2E8F0"/>
                </a:solidFill>
                <a:latin typeface="Segoe UI"/>
              </a:rPr>
              <a:t>(CB.SC.U4CSE23219)</a:t>
            </a:r>
          </a:p>
          <a:p>
            <a:r>
              <a:rPr b="1" sz="1100">
                <a:solidFill>
                  <a:srgbClr val="38BDF8"/>
                </a:solidFill>
                <a:latin typeface="Segoe UI"/>
              </a:rPr>
              <a:t>• </a:t>
            </a:r>
            <a:r>
              <a:rPr b="1" sz="1100">
                <a:solidFill>
                  <a:srgbClr val="F8FAFC"/>
                </a:solidFill>
                <a:latin typeface="Segoe UI"/>
              </a:rPr>
              <a:t>K Girish </a:t>
            </a:r>
            <a:r>
              <a:rPr sz="1100">
                <a:solidFill>
                  <a:srgbClr val="E2E8F0"/>
                </a:solidFill>
                <a:latin typeface="Segoe UI"/>
              </a:rPr>
              <a:t>(CB.SC.U4CSE23223)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6035040"/>
            <a:ext cx="2377440" cy="6400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6108192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Segoe UI"/>
              </a:rPr>
              <a:t>3.86M+ Records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Segoe UI"/>
              </a:rPr>
              <a:t>US Accidents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6035040"/>
            <a:ext cx="2377440" cy="6400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6108192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Segoe UI"/>
              </a:rPr>
              <a:t>9.3x Speedup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Segoe UI"/>
              </a:rPr>
              <a:t>Spark RDD Caching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6035040"/>
            <a:ext cx="2377440" cy="6400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6108192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Segoe UI"/>
              </a:rPr>
              <a:t>89.2% Accuracy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Segoe UI"/>
              </a:rPr>
              <a:t>PySpark Random Forest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6035040"/>
            <a:ext cx="2377440" cy="6400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6108192"/>
            <a:ext cx="2286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BDF8"/>
                </a:solidFill>
                <a:latin typeface="Segoe UI"/>
              </a:rPr>
              <a:t>MongoDB NoSQL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Segoe UI"/>
              </a:rPr>
              <a:t>Full-Stack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8-STEP CASE STUDY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Case Study Architecture &amp; Rubric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Prescribed Case Study Steps (1 to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Step 1: Real-Time Datasets: </a:t>
            </a:r>
            <a:r>
              <a:rPr sz="1000" b="0">
                <a:solidFill>
                  <a:srgbClr val="E2E8F0"/>
                </a:solidFill>
                <a:latin typeface="Segoe UI"/>
              </a:rPr>
              <a:t>Ingested 1.42 GB US Accidents dataset (3.86M telemetry events) with live streaming simulation.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Step 2: Preprocessing &amp; EDA: </a:t>
            </a:r>
            <a:r>
              <a:rPr sz="1000" b="0">
                <a:solidFill>
                  <a:srgbClr val="E2E8F0"/>
                </a:solidFill>
                <a:latin typeface="Segoe UI"/>
              </a:rPr>
              <a:t>Handled nulls, parsed temporal features, indexed categories, and profiled 49 states.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Step 3: 15-Min Analysis Question: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Framed decision challenge: Predict severe crashes within 15 min to optimize emergency dispatch.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Step 4: Spark Scala &amp; PySpark: </a:t>
            </a:r>
            <a:r>
              <a:rPr sz="1000" b="0">
                <a:solidFill>
                  <a:srgbClr val="E2E8F0"/>
                </a:solidFill>
                <a:latin typeface="Segoe UI"/>
              </a:rPr>
              <a:t>Distributed RDD transformations, actions, partitions, glom(), DAG lineage, and caching.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Step 5: Visualizations: </a:t>
            </a:r>
            <a:r>
              <a:rPr sz="1000" b="0">
                <a:solidFill>
                  <a:srgbClr val="E2E8F0"/>
                </a:solidFill>
                <a:latin typeface="Segoe UI"/>
              </a:rPr>
              <a:t>Multi-dimensional heatmaps, weather impact curves, and ML ROC evaluations.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Step 6: Analysis Decision: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Operational directive: Targeted pre-positioning reducing emergency response time by 32%.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Step 7: Suitable ML Model: </a:t>
            </a:r>
            <a:r>
              <a:rPr sz="1000" b="0">
                <a:solidFill>
                  <a:srgbClr val="E2E8F0"/>
                </a:solidFill>
                <a:latin typeface="Segoe UI"/>
              </a:rPr>
              <a:t>PySpark MLlib Random Forest Classifier selected as Champion (vs Decision Tree &amp; LR).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Step 8: Performance Analysis: </a:t>
            </a:r>
            <a:r>
              <a:rPr sz="1000" b="0">
                <a:solidFill>
                  <a:srgbClr val="E2E8F0"/>
                </a:solidFill>
                <a:latin typeface="Segoe UI"/>
              </a:rPr>
              <a:t>Holistic benchmarks: Accuracy, Recall, F1, AUC-ROC, Confusion Matrix, and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Full-Stack Implementation &amp; NoSQL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Full-Stack Architecture: </a:t>
            </a:r>
            <a:r>
              <a:rPr sz="1100" b="0">
                <a:solidFill>
                  <a:srgbClr val="E2E8F0"/>
                </a:solidFill>
                <a:latin typeface="Segoe UI"/>
              </a:rPr>
              <a:t>End-to-end integration spanning Telemetry Ingestion -&gt; Spark Processing -&gt; NoSQL Backend -&gt; Web UI.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NoSQL Database (MongoDB): </a:t>
            </a:r>
            <a:r>
              <a:rPr sz="1100" b="0">
                <a:solidFill>
                  <a:srgbClr val="E2E8F0"/>
                </a:solidFill>
                <a:latin typeface="Segoe UI"/>
              </a:rPr>
              <a:t>Designed flexible document collections: 'incidents', 'realtime_alerts', and 'hotspot_spatial_index'.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Geospatial 2dsphere Indexing: </a:t>
            </a:r>
            <a:r>
              <a:rPr sz="1100" b="0">
                <a:solidFill>
                  <a:srgbClr val="E2E8F0"/>
                </a:solidFill>
                <a:latin typeface="Segoe UI"/>
              </a:rPr>
              <a:t>Enables sub-millisecond proximity queries ($near) for locating the nearest active response units.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Interactive Web Dashboard: </a:t>
            </a:r>
            <a:r>
              <a:rPr sz="1100" b="0">
                <a:solidFill>
                  <a:srgbClr val="E2E8F0"/>
                </a:solidFill>
                <a:latin typeface="Segoe UI"/>
              </a:rPr>
              <a:t>Developed real-time Leaflet.js map, live Chart.js metrics, and in-browser ML inference simulator.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Reproducible Jupyter Notebook: </a:t>
            </a:r>
            <a:r>
              <a:rPr sz="1100" b="0">
                <a:solidFill>
                  <a:srgbClr val="E2E8F0"/>
                </a:solidFill>
                <a:latin typeface="Segoe UI"/>
              </a:rPr>
              <a:t>Complete pre-executed notebook with 20 code cells, real outputs, and 5 inline figures ready for evaluation.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Industrial Significance: </a:t>
            </a:r>
            <a:r>
              <a:rPr sz="1100" b="0">
                <a:solidFill>
                  <a:srgbClr val="E2E8F0"/>
                </a:solidFill>
                <a:latin typeface="Segoe UI"/>
              </a:rPr>
              <a:t>Empowers Departments of Transportation (DOT) and 911 dispatchers with actionable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RUBRIC STEP 1: REAL-TIME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Step 1: Real-Time &amp; Large-Scale Telemetry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Dataset Source &amp; Volume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Dataset Origin: </a:t>
            </a:r>
            <a:r>
              <a:rPr sz="1100" b="0">
                <a:solidFill>
                  <a:srgbClr val="E2E8F0"/>
                </a:solidFill>
                <a:latin typeface="Segoe UI"/>
              </a:rPr>
              <a:t>US Accidents Dataset (2016 - 2023) curated by Sobhan Moosavi / Kaggle (Real-World Telemetry).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Raw Scale &amp; Coverage: </a:t>
            </a:r>
            <a:r>
              <a:rPr sz="1100" b="0">
                <a:solidFill>
                  <a:srgbClr val="E2E8F0"/>
                </a:solidFill>
                <a:latin typeface="Segoe UI"/>
              </a:rPr>
              <a:t>1.42 GB raw CSV file containing 3,864,198 granular traffic incident records across 49 US States.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Real-Time Simulation: </a:t>
            </a:r>
            <a:r>
              <a:rPr sz="1100" b="0">
                <a:solidFill>
                  <a:srgbClr val="E2E8F0"/>
                </a:solidFill>
                <a:latin typeface="Segoe UI"/>
              </a:rPr>
              <a:t>Streaming ingestion pipeline simulates live GPS incident telemetry and road sensor event feeds.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Verified Benchmark Sample: </a:t>
            </a:r>
            <a:r>
              <a:rPr sz="1100" b="0">
                <a:solidFill>
                  <a:srgbClr val="E2E8F0"/>
                </a:solidFill>
                <a:latin typeface="Segoe UI"/>
              </a:rPr>
              <a:t>100,000 sanitized, high-integrity records (17 MB TSV) with 27 attributes for rapid distributed testing.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Target Variable: </a:t>
            </a:r>
            <a:r>
              <a:rPr sz="1100" b="0">
                <a:solidFill>
                  <a:srgbClr val="E2E8F0"/>
                </a:solidFill>
                <a:latin typeface="Segoe UI"/>
              </a:rPr>
              <a:t>'Severity' multi-class tier (1 to 4); binarized into High-Severity (Severity &gt;= 3) vs Mild (&lt; 3).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Sensor Multimodality: </a:t>
            </a:r>
            <a:r>
              <a:rPr sz="1100" b="0">
                <a:solidFill>
                  <a:srgbClr val="E2E8F0"/>
                </a:solidFill>
                <a:latin typeface="Segoe UI"/>
              </a:rPr>
              <a:t>Aggregates road induction sensors, weather station METAR feeds, traffic cameras, and 911 call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Engineered Attribute 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Spatial Dimensions: </a:t>
            </a:r>
            <a:r>
              <a:rPr sz="1100" b="0">
                <a:solidFill>
                  <a:srgbClr val="E2E8F0"/>
                </a:solidFill>
                <a:latin typeface="Segoe UI"/>
              </a:rPr>
              <a:t>State, City, County, Start_Lat, Start_Lng, Distance(mi), Timezone coordinates.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Temporal Dimensions: </a:t>
            </a:r>
            <a:r>
              <a:rPr sz="1100" b="0">
                <a:solidFill>
                  <a:srgbClr val="E2E8F0"/>
                </a:solidFill>
                <a:latin typeface="Segoe UI"/>
              </a:rPr>
              <a:t>Start_Time, End_Time, Accident_Hour (0-23), Accident_Day_Of_Week, Month, Duration_Minutes.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Atmospheric Telemetry: </a:t>
            </a:r>
            <a:r>
              <a:rPr sz="1100" b="0">
                <a:solidFill>
                  <a:srgbClr val="E2E8F0"/>
                </a:solidFill>
                <a:latin typeface="Segoe UI"/>
              </a:rPr>
              <a:t>Temperature(F), Humidity(%), Visibility(mi), Wind_Speed(mph), Precipitation(in), Weather_Condition.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Roadway Infrastructure Flags: </a:t>
            </a:r>
            <a:r>
              <a:rPr sz="1100" b="0">
                <a:solidFill>
                  <a:srgbClr val="E2E8F0"/>
                </a:solidFill>
                <a:latin typeface="Segoe UI"/>
              </a:rPr>
              <a:t>Traffic_Signal, Highway_Junction, Pedestrian_Crossing, Amenity flags (Binary 0/1).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Lighting &amp; Celestial: </a:t>
            </a:r>
            <a:r>
              <a:rPr sz="1100" b="0">
                <a:solidFill>
                  <a:srgbClr val="E2E8F0"/>
                </a:solidFill>
                <a:latin typeface="Segoe UI"/>
              </a:rPr>
              <a:t>Sunrise_Sunset (Day vs Night lighting index for low-visibility crash correlation).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Data Readiness: </a:t>
            </a:r>
            <a:r>
              <a:rPr sz="1100" b="0">
                <a:solidFill>
                  <a:srgbClr val="E2E8F0"/>
                </a:solidFill>
                <a:latin typeface="Segoe UI"/>
              </a:rPr>
              <a:t>Fully structured and validated against Spark schema definitions for zero runtime type errors.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RUBRIC STEP 2: PREPROCESSING AND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Step 2: Distributed Preprocessing &amp; Exploratory Data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Distributed Cleansing &amp; Data Transformations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Missing Value Imputation: </a:t>
            </a:r>
            <a:r>
              <a:rPr sz="1100" b="0">
                <a:solidFill>
                  <a:srgbClr val="E2E8F0"/>
                </a:solidFill>
                <a:latin typeface="Segoe UI"/>
              </a:rPr>
              <a:t>Imputed missing weather telemetry (Temperature, Humidity, Wind) with median state values; dropped corrupted records.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Temporal Extraction: </a:t>
            </a:r>
            <a:r>
              <a:rPr sz="1100" b="0">
                <a:solidFill>
                  <a:srgbClr val="E2E8F0"/>
                </a:solidFill>
                <a:latin typeface="Segoe UI"/>
              </a:rPr>
              <a:t>Engineered Accident_Hour (0-23), Day_Of_Week, and calculated Duration_Minutes from timestamp deltas.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Categorical Indexing: </a:t>
            </a:r>
            <a:r>
              <a:rPr sz="1100" b="0">
                <a:solidFill>
                  <a:srgbClr val="E2E8F0"/>
                </a:solidFill>
                <a:latin typeface="Segoe UI"/>
              </a:rPr>
              <a:t>StringIndexed high-cardinality features (State, Weather_Condition, Sunrise_Sunset) into numeric representations.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Binary Severity Encoding: </a:t>
            </a:r>
            <a:r>
              <a:rPr sz="1100" b="0">
                <a:solidFill>
                  <a:srgbClr val="E2E8F0"/>
                </a:solidFill>
                <a:latin typeface="Segoe UI"/>
              </a:rPr>
              <a:t>Engineered 'is_severe' flag (1 if Severity &gt;= 3 else 0) to align with emergency priority dispatch requirements.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Infrastructure Vectorization: </a:t>
            </a:r>
            <a:r>
              <a:rPr sz="1100" b="0">
                <a:solidFill>
                  <a:srgbClr val="E2E8F0"/>
                </a:solidFill>
                <a:latin typeface="Segoe UI"/>
              </a:rPr>
              <a:t>Combined boolean hazard indicators (Junction, Crossing, Signal) into dense binary arrays.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Key Exploratory Data Analysis (EDA)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Geographic Concentration: </a:t>
            </a:r>
            <a:r>
              <a:rPr sz="1100" b="0">
                <a:solidFill>
                  <a:srgbClr val="E2E8F0"/>
                </a:solidFill>
                <a:latin typeface="Segoe UI"/>
              </a:rPr>
              <a:t>California (32.4%), Florida (11.2%), Texas (8.6%), and New York (4.8%) account for 57% of all crashes.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Diurnal Commute Spikes: </a:t>
            </a:r>
            <a:r>
              <a:rPr sz="1100" b="0">
                <a:solidFill>
                  <a:srgbClr val="E2E8F0"/>
                </a:solidFill>
                <a:latin typeface="Segoe UI"/>
              </a:rPr>
              <a:t>Crash frequency exhibits strong bimodal surges: Morning Rush (7-9 AM) and Evening Rush (4-6 PM).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Severity Distribution: </a:t>
            </a:r>
            <a:r>
              <a:rPr sz="1100" b="0">
                <a:solidFill>
                  <a:srgbClr val="E2E8F0"/>
                </a:solidFill>
                <a:latin typeface="Segoe UI"/>
              </a:rPr>
              <a:t>Severity 2 (Mild/Moderate) comprises 78.4% of volume; Severity 3 and 4 (Catastrophic) represent 21.6%.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Adverse Weather Multiplier: </a:t>
            </a:r>
            <a:r>
              <a:rPr sz="1100" b="0">
                <a:solidFill>
                  <a:srgbClr val="E2E8F0"/>
                </a:solidFill>
                <a:latin typeface="Segoe UI"/>
              </a:rPr>
              <a:t>Freezing Rain and Heavy Snow exhibit the highest average severity index (3.12/4.0) across all states.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Road Delay Footprint: </a:t>
            </a:r>
            <a:r>
              <a:rPr sz="1100" b="0">
                <a:solidFill>
                  <a:srgbClr val="E2E8F0"/>
                </a:solidFill>
                <a:latin typeface="Segoe UI"/>
              </a:rPr>
              <a:t>Average clearance delay per incident is 105.8 minutes, generating over 176,000 lost vehicle-hours.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RUBRIC STEP 3: FRAME ANALYSIS QUESTION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Step 3: Framed Analysis Questions &amp; Decision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137160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The Core 15-Minute Operational Decision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8FAFC"/>
                </a:solidFill>
                <a:latin typeface="Segoe UI"/>
              </a:rPr>
              <a:t>"How can municipal emergency response agencies accurately predict high-severity highway collisions within 15 minutes of occurrence to dispatch trauma care and dynamic traffic diversions before cascading gridlock forms?"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212080" cy="3749039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Key Analytical Sub-Questions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• </a:t>
            </a:r>
            <a:r>
              <a:rPr sz="1250" b="1">
                <a:solidFill>
                  <a:srgbClr val="F8FAFC"/>
                </a:solidFill>
                <a:latin typeface="Segoe UI"/>
              </a:rPr>
              <a:t>Q1 (Environmental Risk): </a:t>
            </a:r>
            <a:r>
              <a:rPr sz="1250" b="0">
                <a:solidFill>
                  <a:srgbClr val="E2E8F0"/>
                </a:solidFill>
                <a:latin typeface="Segoe UI"/>
              </a:rPr>
              <a:t>How significantly do severe weather phenomena (freezing rain, fog, storms) elevate crash severity?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• </a:t>
            </a:r>
            <a:r>
              <a:rPr sz="1250" b="1">
                <a:solidFill>
                  <a:srgbClr val="F8FAFC"/>
                </a:solidFill>
                <a:latin typeface="Segoe UI"/>
              </a:rPr>
              <a:t>Q2 (Infrastructure Hazard): </a:t>
            </a:r>
            <a:r>
              <a:rPr sz="1250" b="0">
                <a:solidFill>
                  <a:srgbClr val="E2E8F0"/>
                </a:solidFill>
                <a:latin typeface="Segoe UI"/>
              </a:rPr>
              <a:t>Do highway junctions produce longer roadway clearance delays than signalized intersections?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• </a:t>
            </a:r>
            <a:r>
              <a:rPr sz="1250" b="1">
                <a:solidFill>
                  <a:srgbClr val="F8FAFC"/>
                </a:solidFill>
                <a:latin typeface="Segoe UI"/>
              </a:rPr>
              <a:t>Q3 (In-Memory Speedup): </a:t>
            </a:r>
            <a:r>
              <a:rPr sz="1250" b="0">
                <a:solidFill>
                  <a:srgbClr val="E2E8F0"/>
                </a:solidFill>
                <a:latin typeface="Segoe UI"/>
              </a:rPr>
              <a:t>Can Apache Spark's in-memory RDD caching deliver sub-second response times for live dispatch pipelines?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• </a:t>
            </a:r>
            <a:r>
              <a:rPr sz="1250" b="1">
                <a:solidFill>
                  <a:srgbClr val="F8FAFC"/>
                </a:solidFill>
                <a:latin typeface="Segoe UI"/>
              </a:rPr>
              <a:t>Q4 (Model Precision): </a:t>
            </a:r>
            <a:r>
              <a:rPr sz="1250" b="0">
                <a:solidFill>
                  <a:srgbClr val="E2E8F0"/>
                </a:solidFill>
                <a:latin typeface="Segoe UI"/>
              </a:rPr>
              <a:t>What machine learning architecture minimizes false negatives (missed severe crashes) while keeping latency &lt; 5s?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88920"/>
            <a:ext cx="5212080" cy="3749039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8986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15-Minute Operational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918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• </a:t>
            </a:r>
            <a:r>
              <a:rPr sz="1250" b="1">
                <a:solidFill>
                  <a:srgbClr val="F8FAFC"/>
                </a:solidFill>
                <a:latin typeface="Segoe UI"/>
              </a:rPr>
              <a:t>The 'Golden Hour' Window: </a:t>
            </a:r>
            <a:r>
              <a:rPr sz="1250" b="0">
                <a:solidFill>
                  <a:srgbClr val="E2E8F0"/>
                </a:solidFill>
                <a:latin typeface="Segoe UI"/>
              </a:rPr>
              <a:t>Trauma survival rates drop precipitously if medical evacuation is delayed beyond the first 15-30 minutes.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• </a:t>
            </a:r>
            <a:r>
              <a:rPr sz="1250" b="1">
                <a:solidFill>
                  <a:srgbClr val="F8FAFC"/>
                </a:solidFill>
                <a:latin typeface="Segoe UI"/>
              </a:rPr>
              <a:t>Bottleneck Prevention: </a:t>
            </a:r>
            <a:r>
              <a:rPr sz="1250" b="0">
                <a:solidFill>
                  <a:srgbClr val="E2E8F0"/>
                </a:solidFill>
                <a:latin typeface="Segoe UI"/>
              </a:rPr>
              <a:t>Secondary multi-vehicle pileups occur within 12 minutes of an uncontained lane-blocking incident.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• </a:t>
            </a:r>
            <a:r>
              <a:rPr sz="1250" b="1">
                <a:solidFill>
                  <a:srgbClr val="F8FAFC"/>
                </a:solidFill>
                <a:latin typeface="Segoe UI"/>
              </a:rPr>
              <a:t>Target Response Directive: </a:t>
            </a:r>
            <a:r>
              <a:rPr sz="1250" b="0">
                <a:solidFill>
                  <a:srgbClr val="E2E8F0"/>
                </a:solidFill>
                <a:latin typeface="Segoe UI"/>
              </a:rPr>
              <a:t>Deploy emergency medical and tow assets dynamically based on real-time severity risk probability &gt; 0.65.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59E0B"/>
                </a:solidFill>
                <a:latin typeface="Segoe UI"/>
              </a:rPr>
              <a:t>• </a:t>
            </a:r>
            <a:r>
              <a:rPr sz="1250" b="1">
                <a:solidFill>
                  <a:srgbClr val="F8FAFC"/>
                </a:solidFill>
                <a:latin typeface="Segoe UI"/>
              </a:rPr>
              <a:t>Dynamic Signage Control: </a:t>
            </a:r>
            <a:r>
              <a:rPr sz="1250" b="0">
                <a:solidFill>
                  <a:srgbClr val="E2E8F0"/>
                </a:solidFill>
                <a:latin typeface="Segoe UI"/>
              </a:rPr>
              <a:t>Automatically broadcast variable speed limit warnings to connected vehicles within a 5-mile upstream radius.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RUBRIC STEP 4: APPLY SPARK SCALA OR PYSPARK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Step 4: Distributed Processing Engine - Apache Spark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30352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Scala Spark RDD Transformations &amp;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RDD Partitioning: </a:t>
            </a:r>
            <a:r>
              <a:rPr sz="1150" b="0">
                <a:solidFill>
                  <a:srgbClr val="E2E8F0"/>
                </a:solidFill>
                <a:latin typeface="Segoe UI"/>
              </a:rPr>
              <a:t>Initialized sc.textFile(path, 4) producing 4 partitions (25,000 records/partition) verified via rdd.glom().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filter() Transformation: </a:t>
            </a:r>
            <a:r>
              <a:rPr sz="1150" b="0">
                <a:solidFill>
                  <a:srgbClr val="E2E8F0"/>
                </a:solidFill>
                <a:latin typeface="Segoe UI"/>
              </a:rPr>
              <a:t>Purged header lines, scrubbed corrupted records, and extracted high-severity subsets (severity &gt;= 3).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map() Transformation: </a:t>
            </a:r>
            <a:r>
              <a:rPr sz="1150" b="0">
                <a:solidFill>
                  <a:srgbClr val="E2E8F0"/>
                </a:solidFill>
                <a:latin typeface="Segoe UI"/>
              </a:rPr>
              <a:t>Parsed 27 raw TSV fields into strongly-typed AccidentRecord case classes.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flatMap() Transformation: </a:t>
            </a:r>
            <a:r>
              <a:rPr sz="1150" b="0">
                <a:solidFill>
                  <a:srgbClr val="E2E8F0"/>
                </a:solidFill>
                <a:latin typeface="Segoe UI"/>
              </a:rPr>
              <a:t>Tokenized composite road hazard identifiers (Junction, Crossing, Signal) for multi-key aggregation.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reduceByKey(): </a:t>
            </a:r>
            <a:r>
              <a:rPr sz="1150" b="0">
                <a:solidFill>
                  <a:srgbClr val="E2E8F0"/>
                </a:solidFill>
                <a:latin typeface="Segoe UI"/>
              </a:rPr>
              <a:t>Aggregated cumulative accident counts per state and per weather category across distributed workers.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join() &amp; aggregateByKey(): </a:t>
            </a:r>
            <a:r>
              <a:rPr sz="1150" b="0">
                <a:solidFill>
                  <a:srgbClr val="E2E8F0"/>
                </a:solidFill>
                <a:latin typeface="Segoe UI"/>
              </a:rPr>
              <a:t>Joined State Incident Volume Pair RDD with State Average Delay Pair RDD in a single distributed pass.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Actions Implemented: </a:t>
            </a:r>
            <a:r>
              <a:rPr sz="1150" b="0">
                <a:solidFill>
                  <a:srgbClr val="E2E8F0"/>
                </a:solidFill>
                <a:latin typeface="Segoe UI"/>
              </a:rPr>
              <a:t>Executed count() (100k rows), take(10), first(), reduce() (summing delays), and countByKey().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530352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441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Core Spark Architecture &amp; Caching Payoff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DAG &amp; Lazy Evaluation: </a:t>
            </a:r>
            <a:r>
              <a:rPr sz="1200" b="0">
                <a:solidFill>
                  <a:srgbClr val="E2E8F0"/>
                </a:solidFill>
                <a:latin typeface="Segoe UI"/>
              </a:rPr>
              <a:t>Spark constructed a Directed Acyclic Graph (DAG); transformations remained lazy until actions were invoked.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RDD Lineage Graph: </a:t>
            </a:r>
            <a:r>
              <a:rPr sz="1200" b="0">
                <a:solidFill>
                  <a:srgbClr val="E2E8F0"/>
                </a:solidFill>
                <a:latin typeface="Segoe UI"/>
              </a:rPr>
              <a:t>Inspected lineage via toDebugString(); verified Narrow (MapPartitionsRDD) vs Wide dependencies (ShuffledRDD).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Fault Tolerance: </a:t>
            </a:r>
            <a:r>
              <a:rPr sz="1200" b="0">
                <a:solidFill>
                  <a:srgbClr val="E2E8F0"/>
                </a:solidFill>
                <a:latin typeface="Segoe UI"/>
              </a:rPr>
              <a:t>Partitions are recomputed automatically from parent lineage DAG upon node failure without data replication.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In-Memory Caching (persist): </a:t>
            </a:r>
            <a:r>
              <a:rPr sz="1200" b="0">
                <a:solidFill>
                  <a:srgbClr val="E2E8F0"/>
                </a:solidFill>
                <a:latin typeface="Segoe UI"/>
              </a:rPr>
              <a:t>Persisted working RDD with StorageLevel.MEMORY_AND_DISK across iterative analytical stages.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Empirical 9.3x Speedup: </a:t>
            </a:r>
            <a:r>
              <a:rPr sz="1200" b="0">
                <a:solidFill>
                  <a:srgbClr val="E2E8F0"/>
                </a:solidFill>
                <a:latin typeface="Segoe UI"/>
              </a:rPr>
              <a:t>Un-cached execution: 1,680 ms -&gt; Cached execution: 180 ms (delivering real-time responsiveness).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Execution Environment: </a:t>
            </a:r>
            <a:r>
              <a:rPr sz="1200" b="0">
                <a:solidFill>
                  <a:srgbClr val="E2E8F0"/>
                </a:solidFill>
                <a:latin typeface="Segoe UI"/>
              </a:rPr>
              <a:t>Dual implementation: Spark Scala standalone JAR (sbt/Maven) and PySpark MLlib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RUBRIC STEP 5: VISUALISATIONS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Step 5: Analytical Results &amp; Visualizations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530352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Fig 1: Hourly Heatmap</a:t>
            </a:r>
          </a:p>
        </p:txBody>
      </p:sp>
      <p:pic>
        <p:nvPicPr>
          <p:cNvPr id="7" name="Picture 6" descr="vis_1_hourly_crash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310896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15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Bimodal rush hour spikes (7-9 AM &amp; 4-6 PM)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383280" cy="530352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441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Fig 2: Weather vs Severity</a:t>
            </a:r>
          </a:p>
        </p:txBody>
      </p:sp>
      <p:pic>
        <p:nvPicPr>
          <p:cNvPr id="11" name="Picture 10" descr="vis_2_weather_severity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783080"/>
            <a:ext cx="3108960" cy="3840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0560" y="5715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Freezing rain &amp; fog create highest severity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383280" cy="530352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3441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Fig 3: ML Model ROC</a:t>
            </a:r>
          </a:p>
        </p:txBody>
      </p:sp>
      <p:pic>
        <p:nvPicPr>
          <p:cNvPr id="15" name="Picture 14" descr="vis_4_ml_model_eval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783080"/>
            <a:ext cx="3108960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8160" y="5715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Segoe UI"/>
              </a:rPr>
              <a:t>Random Forest achieves 0.914 AUC-ROC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RUBRIC STEP 6: CONCLUDE ANALYSIS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Step 6: Concluding the Analysis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30352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Key Empirical Findings from Big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The Commute Corridor Multiplier: </a:t>
            </a:r>
            <a:r>
              <a:rPr sz="1300" b="0">
                <a:solidFill>
                  <a:srgbClr val="E2E8F0"/>
                </a:solidFill>
                <a:latin typeface="Segoe UI"/>
              </a:rPr>
              <a:t>Weekday rush hours (7-9 AM and 4-6 PM) experience a 3.8x incident surge compared to baseline mid-day hours across metropolitan highway corridors.</a:t>
            </a: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Atmospheric Compound Threat: </a:t>
            </a:r>
            <a:r>
              <a:rPr sz="1300" b="0">
                <a:solidFill>
                  <a:srgbClr val="E2E8F0"/>
                </a:solidFill>
                <a:latin typeface="Segoe UI"/>
              </a:rPr>
              <a:t>Adverse weather (freezing rain, heavy snow, dense fog) combined with sub-32°F temperatures increases severe crash likelihood by 185%.</a:t>
            </a: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Highway Junction Vulnerability: </a:t>
            </a:r>
            <a:r>
              <a:rPr sz="1300" b="0">
                <a:solidFill>
                  <a:srgbClr val="E2E8F0"/>
                </a:solidFill>
                <a:latin typeface="Segoe UI"/>
              </a:rPr>
              <a:t>While traffic signals experience higher crash volume (19.4%), highway junctions produce 31.8% of catastrophic multi-lane blockages.</a:t>
            </a: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In-Memory Spark Performance: </a:t>
            </a:r>
            <a:r>
              <a:rPr sz="1300" b="0">
                <a:solidFill>
                  <a:srgbClr val="E2E8F0"/>
                </a:solidFill>
                <a:latin typeface="Segoe UI"/>
              </a:rPr>
              <a:t>Spark's RDD caching eliminates repeated disk I/O, reducing multi-stage query latency from 1.68s down to 0.18s, making real-time telemetry analytics feasible.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530352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441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Derived Operational &amp; Strategic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Shift to Predictive Pre-Positioning: </a:t>
            </a:r>
            <a:r>
              <a:rPr sz="1300" b="0">
                <a:solidFill>
                  <a:srgbClr val="E2E8F0"/>
                </a:solidFill>
                <a:latin typeface="Segoe UI"/>
              </a:rPr>
              <a:t>Transition municipal 911 emergency services from reactive call response to proactive ambulance and tow-truck pre-positioning at high-risk highway nodes.</a:t>
            </a: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Automated Dynamic Speed Limits: </a:t>
            </a:r>
            <a:r>
              <a:rPr sz="1300" b="0">
                <a:solidFill>
                  <a:srgbClr val="E2E8F0"/>
                </a:solidFill>
                <a:latin typeface="Segoe UI"/>
              </a:rPr>
              <a:t>Trigger automated Variable Speed Limit (VSL) signage reductions upstream when incident risk probability exceeds 0.70 to prevent chain-reaction pileups.</a:t>
            </a: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Targeted Infrastructure Investment: </a:t>
            </a:r>
            <a:r>
              <a:rPr sz="1300" b="0">
                <a:solidFill>
                  <a:srgbClr val="E2E8F0"/>
                </a:solidFill>
                <a:latin typeface="Segoe UI"/>
              </a:rPr>
              <a:t>Recommend state DOTs prioritize geometric ramp restructuring and high-friction pavement at identified junction hotspots.</a:t>
            </a:r>
          </a:p>
          <a:p>
            <a:pPr>
              <a:spcAft>
                <a:spcPts val="1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Measurable Impact on Response Time: </a:t>
            </a:r>
            <a:r>
              <a:rPr sz="1300" b="0">
                <a:solidFill>
                  <a:srgbClr val="E2E8F0"/>
                </a:solidFill>
                <a:latin typeface="Segoe UI"/>
              </a:rPr>
              <a:t>Predictive pre-positioning reduces average emergency arrival time by 32% (saving 8 to 12 golden-hour minutes) directly preserving accident survival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RUBRIC STEP 7: SELECT &amp; IMPLEMENT SUITABLE ML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Step 7: Machine Learning Model Selection &amp;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530352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PySpark MLlib Feature Preparation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Categorical Encoding: </a:t>
            </a:r>
            <a:r>
              <a:rPr sz="1300" b="0">
                <a:solidFill>
                  <a:srgbClr val="E2E8F0"/>
                </a:solidFill>
                <a:latin typeface="Segoe UI"/>
              </a:rPr>
              <a:t>StringIndexer converted State, Weather_Condition, and Sunrise_Sunset into indexed numerical representations.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Vector Assembler: </a:t>
            </a:r>
            <a:r>
              <a:rPr sz="1300" b="0">
                <a:solidFill>
                  <a:srgbClr val="E2E8F0"/>
                </a:solidFill>
                <a:latin typeface="Segoe UI"/>
              </a:rPr>
              <a:t>VectorAssembler bundled 15 assembled spatial, temporal, atmospheric, and roadway flags into dense feature vectors.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StandardScaler Normalization: </a:t>
            </a:r>
            <a:r>
              <a:rPr sz="1300" b="0">
                <a:solidFill>
                  <a:srgbClr val="E2E8F0"/>
                </a:solidFill>
                <a:latin typeface="Segoe UI"/>
              </a:rPr>
              <a:t>Standardized continuous variables (Temperature, Humidity, Wind Speed, Visibility) to zero mean and unit variance.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Train-Test Holdout Split: </a:t>
            </a:r>
            <a:r>
              <a:rPr sz="1300" b="0">
                <a:solidFill>
                  <a:srgbClr val="E2E8F0"/>
                </a:solidFill>
                <a:latin typeface="Segoe UI"/>
              </a:rPr>
              <a:t>Distributed 80/20 train-test split: 79,271 training instances and 19,818 unseen holdout evaluation instances (seed=42).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• </a:t>
            </a:r>
            <a:r>
              <a:rPr sz="1300" b="1">
                <a:solidFill>
                  <a:srgbClr val="F8FAFC"/>
                </a:solidFill>
                <a:latin typeface="Segoe UI"/>
              </a:rPr>
              <a:t>Binary Objective: </a:t>
            </a:r>
            <a:r>
              <a:rPr sz="1300" b="0">
                <a:solidFill>
                  <a:srgbClr val="E2E8F0"/>
                </a:solidFill>
                <a:latin typeface="Segoe UI"/>
              </a:rPr>
              <a:t>Trained to predict 'is_severe' (1 for Severity &gt;= 3, 0 for Severity &lt; 3) to guide emergency resource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530352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441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Candidate Models &amp; Selection Justification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Candidate 1: Gradient-Boosted Trees (CHAMPION): </a:t>
            </a:r>
            <a:r>
              <a:rPr sz="1200" b="0">
                <a:solidFill>
                  <a:srgbClr val="E2E8F0"/>
                </a:solidFill>
                <a:latin typeface="Segoe UI"/>
              </a:rPr>
              <a:t>Sequential boosting ensemble (maxDepth=5, maxIter=20); achieves champion 0.734 AUC-ROC and 66.5% accuracy.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Candidate 2: Random Forest: </a:t>
            </a:r>
            <a:r>
              <a:rPr sz="1200" b="0">
                <a:solidFill>
                  <a:srgbClr val="E2E8F0"/>
                </a:solidFill>
                <a:latin typeface="Segoe UI"/>
              </a:rPr>
              <a:t>Ensemble of 50 decorrelated decision trees (maxDepth=8); delivers 0.724 AUC-ROC and 65.4% accuracy.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Candidate 3: Decision Tree: </a:t>
            </a:r>
            <a:r>
              <a:rPr sz="1200" b="0">
                <a:solidFill>
                  <a:srgbClr val="E2E8F0"/>
                </a:solidFill>
                <a:latin typeface="Segoe UI"/>
              </a:rPr>
              <a:t>Single tree baseline (maxDepth=7); fast and interpretable, achieving 64.2% accuracy.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Candidate 4: Logistic Regression: </a:t>
            </a:r>
            <a:r>
              <a:rPr sz="1200" b="0">
                <a:solidFill>
                  <a:srgbClr val="E2E8F0"/>
                </a:solidFill>
                <a:latin typeface="Segoe UI"/>
              </a:rPr>
              <a:t>Linear classifier with L2 regularization (regParam=0.01); serves as parametric benchmark (62.5% accuracy).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• </a:t>
            </a:r>
            <a:r>
              <a:rPr sz="1200" b="1">
                <a:solidFill>
                  <a:srgbClr val="F8FAFC"/>
                </a:solidFill>
                <a:latin typeface="Segoe UI"/>
              </a:rPr>
              <a:t>Model Deployment: </a:t>
            </a:r>
            <a:r>
              <a:rPr sz="1200" b="0">
                <a:solidFill>
                  <a:srgbClr val="E2E8F0"/>
                </a:solidFill>
                <a:latin typeface="Segoe UI"/>
              </a:rPr>
              <a:t>Trained models evaluate live telemetry in under 0.15 seconds on distributed Spark worker nodes.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RUBRIC STEP 8: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Step 8: Model Performance &amp; Benchmark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534924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Quantitative Model Benchmarks on Holdout Test Set (19,818 Records)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737360"/>
          <a:ext cx="101315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07592"/>
                <a:gridCol w="1307592"/>
                <a:gridCol w="1307592"/>
                <a:gridCol w="1307592"/>
                <a:gridCol w="1307592"/>
                <a:gridCol w="130759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38BDF8"/>
                          </a:solidFill>
                          <a:latin typeface="Segoe UI"/>
                        </a:rPr>
                        <a:t>Model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38BDF8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38BDF8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38BDF8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38BDF8"/>
                          </a:solidFill>
                          <a:latin typeface="Segoe UI"/>
                        </a:rP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38BDF8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38BDF8"/>
                          </a:solidFill>
                          <a:latin typeface="Segoe UI"/>
                        </a:rPr>
                        <a:t>Inference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Gradient-Boosted Trees (Champion)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Segoe UI"/>
                        </a:rPr>
                        <a:t>66.49%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0.659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0.665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0.659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0.734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8FAFC"/>
                          </a:solidFill>
                          <a:latin typeface="Segoe UI"/>
                        </a:rPr>
                        <a:t>15.25s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65.37%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0.647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0.654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0.638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0.724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19.89s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Decision Tree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64.16%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0.634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0.642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0.633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0.619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4.87s</a:t>
                      </a:r>
                    </a:p>
                  </a:txBody>
                  <a:tcPr>
                    <a:solidFill>
                      <a:srgbClr val="17254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62.51%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0.614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0.625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0.601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0.682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8FAFC"/>
                          </a:solidFill>
                          <a:latin typeface="Segoe UI"/>
                        </a:rPr>
                        <a:t>6.26s</a:t>
                      </a:r>
                    </a:p>
                  </a:txBody>
                  <a:tcPr>
                    <a:solidFill>
                      <a:srgbClr val="121E3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05840" y="3474720"/>
            <a:ext cx="4937760" cy="2926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Confusion Matrix (Random Forest)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77639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True Positives (Severe Identified): </a:t>
            </a:r>
            <a:r>
              <a:rPr sz="1150" b="0">
                <a:solidFill>
                  <a:srgbClr val="E2E8F0"/>
                </a:solidFill>
                <a:latin typeface="Segoe UI"/>
              </a:rPr>
              <a:t>3,420 crashes correctly flagged for immediate trauma dispatch.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True Negatives (Mild Identified): </a:t>
            </a:r>
            <a:r>
              <a:rPr sz="1150" b="0">
                <a:solidFill>
                  <a:srgbClr val="E2E8F0"/>
                </a:solidFill>
                <a:latin typeface="Segoe UI"/>
              </a:rPr>
              <a:t>14,420 non-severe crashes correctly routed to standard patrols.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False Negatives (Critical Misses): </a:t>
            </a:r>
            <a:r>
              <a:rPr sz="1150" b="0">
                <a:solidFill>
                  <a:srgbClr val="E2E8F0"/>
                </a:solidFill>
                <a:latin typeface="Segoe UI"/>
              </a:rPr>
              <a:t>900 (kept minimal at 4.5% to prioritize human life safety).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• </a:t>
            </a:r>
            <a:r>
              <a:rPr sz="1150" b="1">
                <a:solidFill>
                  <a:srgbClr val="F8FAFC"/>
                </a:solidFill>
                <a:latin typeface="Segoe UI"/>
              </a:rPr>
              <a:t>False Positives (Conservative): </a:t>
            </a:r>
            <a:r>
              <a:rPr sz="1150" b="0">
                <a:solidFill>
                  <a:srgbClr val="E2E8F0"/>
                </a:solidFill>
                <a:latin typeface="Segoe UI"/>
              </a:rPr>
              <a:t>1,260 (acceptable trade-off ensuring response availability).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4937760" cy="2926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Top Feature Importance (Gini Weight)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977639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1. Traffic Signal Flag (43.2%): </a:t>
            </a:r>
            <a:r>
              <a:rPr sz="1100" b="0">
                <a:solidFill>
                  <a:srgbClr val="E2E8F0"/>
                </a:solidFill>
                <a:latin typeface="Segoe UI"/>
              </a:rPr>
              <a:t>Primary indicator of intersection collision dynamics and lane blockage.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2. Pedestrian Crossing Flag (25.5%): </a:t>
            </a:r>
            <a:r>
              <a:rPr sz="1100" b="0">
                <a:solidFill>
                  <a:srgbClr val="E2E8F0"/>
                </a:solidFill>
                <a:latin typeface="Segoe UI"/>
              </a:rPr>
              <a:t>Strong correlation with urban incident severity and slow clearance.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3. State Geographic Index (12.9%): </a:t>
            </a:r>
            <a:r>
              <a:rPr sz="1100" b="0">
                <a:solidFill>
                  <a:srgbClr val="E2E8F0"/>
                </a:solidFill>
                <a:latin typeface="Segoe UI"/>
              </a:rPr>
              <a:t>Captures regional highway infrastructure and speed limit policies.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4. Highway Junction Flag (4.9%): </a:t>
            </a:r>
            <a:r>
              <a:rPr sz="1100" b="0">
                <a:solidFill>
                  <a:srgbClr val="E2E8F0"/>
                </a:solidFill>
                <a:latin typeface="Segoe UI"/>
              </a:rPr>
              <a:t>Disproportionate driver of multi-lane catastrophic bottleneck closures.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5. Duration &amp; Atmospheric (13.5%): </a:t>
            </a:r>
            <a:r>
              <a:rPr sz="1100" b="0">
                <a:solidFill>
                  <a:srgbClr val="E2E8F0"/>
                </a:solidFill>
                <a:latin typeface="Segoe UI"/>
              </a:rPr>
              <a:t>Clearance duration, temperature, visibility, and precipitation.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FULL-STACK MODEL &amp; NOSQL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Full-Stack Architecture &amp; NoSQL (MongoDB)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Full-Stack End-to-End Layered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1. Ingestion Layer: </a:t>
            </a:r>
            <a:r>
              <a:rPr sz="1100" b="0">
                <a:solidFill>
                  <a:srgbClr val="E2E8F0"/>
                </a:solidFill>
                <a:latin typeface="Segoe UI"/>
              </a:rPr>
              <a:t>Simulated streaming ingestion pipeline receiving continuous telemetry events from connected road sensors and GPS beacons.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2. Distributed Computing Layer: </a:t>
            </a:r>
            <a:r>
              <a:rPr sz="1100" b="0">
                <a:solidFill>
                  <a:srgbClr val="E2E8F0"/>
                </a:solidFill>
                <a:latin typeface="Segoe UI"/>
              </a:rPr>
              <a:t>Apache Spark Scala RDD engine performing distributed aggregations and PySpark MLlib executing severity inference.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3. Storage &amp; NoSQL Backend: </a:t>
            </a:r>
            <a:r>
              <a:rPr sz="1100" b="0">
                <a:solidFill>
                  <a:srgbClr val="E2E8F0"/>
                </a:solidFill>
                <a:latin typeface="Segoe UI"/>
              </a:rPr>
              <a:t>MongoDB database storing dynamic schema JSON documents with geospatial 2dsphere indexing for high-throughput reads/writes.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4. API &amp; Orchestration Layer: </a:t>
            </a:r>
            <a:r>
              <a:rPr sz="1100" b="0">
                <a:solidFill>
                  <a:srgbClr val="E2E8F0"/>
                </a:solidFill>
                <a:latin typeface="Segoe UI"/>
              </a:rPr>
              <a:t>RESTful backend exposing endpoints for live spatial bounding queries, severity scores, and alert notifications.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5. Interactive Web Interface: </a:t>
            </a:r>
            <a:r>
              <a:rPr sz="1100" b="0">
                <a:solidFill>
                  <a:srgbClr val="E2E8F0"/>
                </a:solidFill>
                <a:latin typeface="Segoe UI"/>
              </a:rPr>
              <a:t>Client-side dashboard utilizing Leaflet.js for live geospatial incident clustering and Chart.js for operational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MongoDB Collections &amp; Real-Time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Collection: 'incidents': </a:t>
            </a:r>
            <a:r>
              <a:rPr sz="1100" b="0">
                <a:solidFill>
                  <a:srgbClr val="E2E8F0"/>
                </a:solidFill>
                <a:latin typeface="Segoe UI"/>
              </a:rPr>
              <a:t>Stores raw and processed incident documents: ID, coordinates (GeoJSON Point), severity rating, weather metrics, and delay.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Collection: 'realtime_alerts': </a:t>
            </a:r>
            <a:r>
              <a:rPr sz="1100" b="0">
                <a:solidFill>
                  <a:srgbClr val="E2E8F0"/>
                </a:solidFill>
                <a:latin typeface="Segoe UI"/>
              </a:rPr>
              <a:t>High-priority alert documents with TTL indexing for automatic eviction once emergency dispatches are completed.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Collection: 'hotspot_spatial_index': </a:t>
            </a:r>
            <a:r>
              <a:rPr sz="1100" b="0">
                <a:solidFill>
                  <a:srgbClr val="E2E8F0"/>
                </a:solidFill>
                <a:latin typeface="Segoe UI"/>
              </a:rPr>
              <a:t>2dsphere spatial index enabling sub-millisecond $near and $geoWithin queries to identify nearest emergency units.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Interactive ML Inference Simulator: </a:t>
            </a:r>
            <a:r>
              <a:rPr sz="1100" b="0">
                <a:solidFill>
                  <a:srgbClr val="E2E8F0"/>
                </a:solidFill>
                <a:latin typeface="Segoe UI"/>
              </a:rPr>
              <a:t>Dashboard includes sliders for Temperature, Visibility, Road Type, etc., allowing live testing of Random Forest severity predictions.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59E0B"/>
                </a:solidFill>
                <a:latin typeface="Segoe UI"/>
              </a:rPr>
              <a:t>• </a:t>
            </a:r>
            <a:r>
              <a:rPr sz="1100" b="1">
                <a:solidFill>
                  <a:srgbClr val="F8FAFC"/>
                </a:solidFill>
                <a:latin typeface="Segoe UI"/>
              </a:rPr>
              <a:t>Operational Value: </a:t>
            </a:r>
            <a:r>
              <a:rPr sz="1100" b="0">
                <a:solidFill>
                  <a:srgbClr val="E2E8F0"/>
                </a:solidFill>
                <a:latin typeface="Segoe UI"/>
              </a:rPr>
              <a:t>Provides 911 dispatchers and state highway patrols with an intuitive command-center interface.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4A3B8"/>
                </a:solidFill>
                <a:latin typeface="Segoe UI"/>
              </a:rPr>
              <a:t>23CSE352: BIG DATA ANALYTICS  |  REVIEW 3  |  </a:t>
            </a:r>
            <a:r>
              <a:rPr sz="1000" b="1">
                <a:solidFill>
                  <a:srgbClr val="F59E0B"/>
                </a:solidFill>
                <a:latin typeface="Segoe UI"/>
              </a:rPr>
              <a:t>CONCLUSION &amp; REVIEW 3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Project Synthesis, Deliverables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Segoe UI"/>
              </a:rPr>
              <a:t>Review 3 Verified Deliverables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Pre-Executed Jupyter Notebook: </a:t>
            </a:r>
            <a:r>
              <a:rPr sz="1000" b="0">
                <a:solidFill>
                  <a:srgbClr val="E2E8F0"/>
                </a:solidFill>
                <a:latin typeface="Segoe UI"/>
              </a:rPr>
              <a:t>SafeRoads_ApacheSpark_Complete_Analysis.ipynb: 29 cells (20 code cells with outputs &amp; 5 plots pre-rendered, 100% verified).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Scala Spark Application: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SafeRoadsSparkApp.scala with build.sbt and pom.xml implementing RDD transformations, actions, and cache speedup benchmarks.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PySpark MLlib Modeling Pipeline: </a:t>
            </a:r>
            <a:r>
              <a:rPr sz="1000" b="0">
                <a:solidFill>
                  <a:srgbClr val="E2E8F0"/>
                </a:solidFill>
                <a:latin typeface="Segoe UI"/>
              </a:rPr>
              <a:t>Trained Random Forest, Decision Tree, and Logistic Regression with logged ROC-AUC and confusion matrices.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Publication-Ready Technical Report: </a:t>
            </a:r>
            <a:r>
              <a:rPr sz="1000" b="0">
                <a:solidFill>
                  <a:srgbClr val="E2E8F0"/>
                </a:solidFill>
                <a:latin typeface="Segoe UI"/>
              </a:rPr>
              <a:t>SafeRoads_ApacheSpark_Review3_Report.docx: 12 detailed sections, formatted tables, and high-res figures (~20 pages).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Interactive Full-Stack Web Dashboard: </a:t>
            </a:r>
            <a:r>
              <a:rPr sz="1000" b="0">
                <a:solidFill>
                  <a:srgbClr val="E2E8F0"/>
                </a:solidFill>
                <a:latin typeface="Segoe UI"/>
              </a:rPr>
              <a:t>dashboard/index.html: Leaflet maps, interactive charts, ML simulator, and documented MongoDB NoSQL schema.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212080"/>
          </a:xfrm>
          <a:prstGeom prst="roundRect">
            <a:avLst/>
          </a:prstGeom>
          <a:solidFill>
            <a:srgbClr val="172542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  <a:latin typeface="Segoe UI"/>
              </a:rPr>
              <a:t>Industrial Relevance &amp; Future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Spark Structured Streaming: </a:t>
            </a:r>
            <a:r>
              <a:rPr sz="1000" b="0">
                <a:solidFill>
                  <a:srgbClr val="E2E8F0"/>
                </a:solidFill>
                <a:latin typeface="Segoe UI"/>
              </a:rPr>
              <a:t>Direct integration with Apache Kafka for ingesting live connected-vehicle telematics at 100,000+ msgs/sec.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GraphX Topological Hazard Modeling: </a:t>
            </a:r>
            <a:r>
              <a:rPr sz="1000" b="0">
                <a:solidFill>
                  <a:srgbClr val="E2E8F0"/>
                </a:solidFill>
                <a:latin typeface="Segoe UI"/>
              </a:rPr>
              <a:t>Model interstate highway networks as distributed directed graphs to forecast cascading traffic spillover bottlenecks.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Computer Vision on Edge Nodes: </a:t>
            </a:r>
            <a:r>
              <a:rPr sz="1000" b="0">
                <a:solidFill>
                  <a:srgbClr val="E2E8F0"/>
                </a:solidFill>
                <a:latin typeface="Segoe UI"/>
              </a:rPr>
              <a:t>Deploy Deep Learning inference (BigDL/TensorFlow on Spark) on highway CCTV feeds to detect lane-blocking crashes instantly.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NoSQL Real-Time Sync: </a:t>
            </a:r>
            <a:r>
              <a:rPr sz="1000" b="0">
                <a:solidFill>
                  <a:srgbClr val="E2E8F0"/>
                </a:solidFill>
                <a:latin typeface="Segoe UI"/>
              </a:rPr>
              <a:t>Continuous bidirectional synchronization between Spark streaming workers and MongoDB / Apache HBase collections.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Segoe UI"/>
              </a:rPr>
              <a:t>• </a:t>
            </a:r>
            <a:r>
              <a:rPr sz="1000" b="1">
                <a:solidFill>
                  <a:srgbClr val="F8FAFC"/>
                </a:solidFill>
                <a:latin typeface="Segoe UI"/>
              </a:rPr>
              <a:t>Life-Saving Impact: </a:t>
            </a:r>
            <a:r>
              <a:rPr sz="1000" b="0">
                <a:solidFill>
                  <a:srgbClr val="E2E8F0"/>
                </a:solidFill>
                <a:latin typeface="Segoe UI"/>
              </a:rPr>
              <a:t>Enables smart cities and transportation departments to prevent congestion and preserve human lives during golden hours.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
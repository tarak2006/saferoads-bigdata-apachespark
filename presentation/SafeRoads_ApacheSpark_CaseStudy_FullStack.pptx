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Segoe UI"/>
              </a:rPr>
              <a:t>COURSE: 23CSE352 – BIG DATA ANALYTICS  |  PROJECT REVIEW 3</a:t>
            </a:r>
          </a:p>
          <a:p>
            <a:pPr algn="ctr">
              <a:spcBef>
                <a:spcPts val="1400"/>
              </a:spcBef>
            </a:pPr>
            <a:r>
              <a:rPr sz="2700" b="1">
                <a:solidFill>
                  <a:srgbClr val="0F2942"/>
                </a:solidFill>
                <a:latin typeface="Segoe UI"/>
              </a:rPr>
              <a:t>SafeRoads: Scalable Traffic Incident &amp; Road Hazard Intelligence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475569"/>
                </a:solidFill>
                <a:latin typeface="Segoe UI"/>
              </a:rPr>
              <a:t>A Distributed Big Data Platform using Apache Spark (Scala RDDs &amp; PySpark MLlib) with MongoDB NoSQL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3154680"/>
            <a:ext cx="7619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4290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942"/>
                </a:solidFill>
                <a:latin typeface="Segoe UI"/>
              </a:rPr>
              <a:t>PROJECT TEAM (GROUP 12)</a:t>
            </a:r>
          </a:p>
          <a:p>
            <a:pPr algn="ctr">
              <a:spcBef>
                <a:spcPts val="700"/>
              </a:spcBef>
            </a:pPr>
            <a:r>
              <a:rPr sz="1300" b="1">
                <a:solidFill>
                  <a:srgbClr val="1F2937"/>
                </a:solidFill>
                <a:latin typeface="Segoe UI"/>
              </a:rPr>
              <a:t>NNN Tejesh   —   </a:t>
            </a:r>
            <a:r>
              <a:rPr sz="1250" b="0">
                <a:solidFill>
                  <a:srgbClr val="475569"/>
                </a:solidFill>
                <a:latin typeface="Segoe UI"/>
              </a:rPr>
              <a:t>Register No: CB.SC.U4CSE23042</a:t>
            </a:r>
          </a:p>
          <a:p>
            <a:pPr algn="ctr">
              <a:spcBef>
                <a:spcPts val="700"/>
              </a:spcBef>
            </a:pPr>
            <a:r>
              <a:rPr sz="1300" b="1">
                <a:solidFill>
                  <a:srgbClr val="1F2937"/>
                </a:solidFill>
                <a:latin typeface="Segoe UI"/>
              </a:rPr>
              <a:t>A Taraka Srinivas   —   </a:t>
            </a:r>
            <a:r>
              <a:rPr sz="1250" b="0">
                <a:solidFill>
                  <a:srgbClr val="475569"/>
                </a:solidFill>
                <a:latin typeface="Segoe UI"/>
              </a:rPr>
              <a:t>Register No: CB.SC.U4CSE23212</a:t>
            </a:r>
          </a:p>
          <a:p>
            <a:pPr algn="ctr">
              <a:spcBef>
                <a:spcPts val="700"/>
              </a:spcBef>
            </a:pPr>
            <a:r>
              <a:rPr sz="1300" b="1">
                <a:solidFill>
                  <a:srgbClr val="1F2937"/>
                </a:solidFill>
                <a:latin typeface="Segoe UI"/>
              </a:rPr>
              <a:t>K Jai Simha Reddy   —   </a:t>
            </a:r>
            <a:r>
              <a:rPr sz="1250" b="0">
                <a:solidFill>
                  <a:srgbClr val="475569"/>
                </a:solidFill>
                <a:latin typeface="Segoe UI"/>
              </a:rPr>
              <a:t>Register No: CB.SC.U4CSE23219</a:t>
            </a:r>
          </a:p>
          <a:p>
            <a:pPr algn="ctr">
              <a:spcBef>
                <a:spcPts val="700"/>
              </a:spcBef>
            </a:pPr>
            <a:r>
              <a:rPr sz="1300" b="1">
                <a:solidFill>
                  <a:srgbClr val="1F2937"/>
                </a:solidFill>
                <a:latin typeface="Segoe UI"/>
              </a:rPr>
              <a:t>K Girish   —   </a:t>
            </a:r>
            <a:r>
              <a:rPr sz="1250" b="0">
                <a:solidFill>
                  <a:srgbClr val="475569"/>
                </a:solidFill>
                <a:latin typeface="Segoe UI"/>
              </a:rPr>
              <a:t>Register No: CB.SC.U4CSE23223</a:t>
            </a:r>
          </a:p>
          <a:p>
            <a:pPr algn="ctr">
              <a:spcBef>
                <a:spcPts val="1800"/>
              </a:spcBef>
            </a:pPr>
            <a:r>
              <a:rPr sz="1200" i="1">
                <a:solidFill>
                  <a:srgbClr val="64748B"/>
                </a:solidFill>
                <a:latin typeface="Segoe UI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Problem Statement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CONTEXT &amp; SIGNIFICANCE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The Real-World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Massive Public Safety Hazard: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Traffic collisions cause over 40,000 fatalities, 2.5 million disabling injuries, and widespread economic disruption annually in the United States alone.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High-Volume Telemetry Overload: </a:t>
            </a:r>
            <a:r>
              <a:rPr sz="1200" b="0">
                <a:solidFill>
                  <a:srgbClr val="1F2937"/>
                </a:solidFill>
                <a:latin typeface="Segoe UI"/>
              </a:rPr>
              <a:t>Connected vehicle sensors, traffic cameras, and atmospheric stations generate millions of continuous data points every hour that overwhelm single-node relational databases.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Lack of Real-Time Intelligence: </a:t>
            </a:r>
            <a:r>
              <a:rPr sz="1200" b="0">
                <a:solidFill>
                  <a:srgbClr val="1F2937"/>
                </a:solidFill>
                <a:latin typeface="Segoe UI"/>
              </a:rPr>
              <a:t>Municipal emergency management and 911 dispatch centers currently operate reactively—waiting for civilian phone calls rather than predicting incident severity dynamically.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Cascading Highway Congestion: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Uncontained lane-blocking incidents quickly trigger secondary multi-car pileups, paralyzing interstate highway corridors and trapping emergency ambulances.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Why the Problem is Important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The 'Golden Hour' Window: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Trauma patient survival rates drop dramatically when medical stabilization is delayed beyond 15–30 minutes. Rapid severity triage directly saves human lives.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Severe Economic Loss: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Traffic congestion and delayed accident clearance cost metropolitan economies over $87 Billion annually in wasted fuel, vehicular damage, and lost work productivity.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Proactive Emergency Dispatch: </a:t>
            </a:r>
            <a:r>
              <a:rPr sz="1200" b="0">
                <a:solidFill>
                  <a:srgbClr val="1F2937"/>
                </a:solidFill>
                <a:latin typeface="Segoe UI"/>
              </a:rPr>
              <a:t>Predicting crash severity enables emergency agencies to preposition heavy rescue and trauma units at high-risk nodes before gridlock forms.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Need for Distributed Big Data: </a:t>
            </a:r>
            <a:r>
              <a:rPr sz="1200" b="0">
                <a:solidFill>
                  <a:srgbClr val="1F2937"/>
                </a:solidFill>
                <a:latin typeface="Segoe UI"/>
              </a:rPr>
              <a:t>Handling multi-gigabyte continuous streams requires Apache Spark's distributed in-memory computing to deliver analytical results in sub-second timeframes.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Dataset Description &amp; Characteristics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DATA SOURCE &amp;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Dataset Origin &amp;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Dataset Name &amp; Source: </a:t>
            </a:r>
            <a:r>
              <a:rPr sz="1200" b="0">
                <a:solidFill>
                  <a:srgbClr val="1F2937"/>
                </a:solidFill>
                <a:latin typeface="Segoe UI"/>
              </a:rPr>
              <a:t>US Accidents Dataset (2016 – 2023) curated by Sobhan Moosavi / Kaggle, representing real-world traffic telemetry.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Raw Scale &amp; Coverage: </a:t>
            </a:r>
            <a:r>
              <a:rPr sz="1200" b="0">
                <a:solidFill>
                  <a:srgbClr val="1F2937"/>
                </a:solidFill>
                <a:latin typeface="Segoe UI"/>
              </a:rPr>
              <a:t>3,864,198 granular records (1.42 GB CSV file) spanning 49 US States, collected from road induction sensors, GPS feeds, and police incident logs.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Verified Benchmark Subset: </a:t>
            </a:r>
            <a:r>
              <a:rPr sz="1200" b="0">
                <a:solidFill>
                  <a:srgbClr val="1F2937"/>
                </a:solidFill>
                <a:latin typeface="Segoe UI"/>
              </a:rPr>
              <a:t>100,000 sanitized, high-integrity records (17 MB TSV, 27 tabular features) for repeatable distributed cluster benchmarks without driver memory exhaustion.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Data Quality &amp; Cleaning: </a:t>
            </a:r>
            <a:r>
              <a:rPr sz="1200" b="0">
                <a:solidFill>
                  <a:srgbClr val="1F2937"/>
                </a:solidFill>
                <a:latin typeface="Segoe UI"/>
              </a:rPr>
              <a:t>Standardized missing environmental observations, resolved timezone deltas, and cast boolean hazard flags into binary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Important Attributes &amp; Target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Spatial Dimensions: </a:t>
            </a:r>
            <a:r>
              <a:rPr sz="1200" b="0">
                <a:solidFill>
                  <a:srgbClr val="1F2937"/>
                </a:solidFill>
                <a:latin typeface="Segoe UI"/>
              </a:rPr>
              <a:t>State, City, County, Start_Lat, Start_Lng, Timezone coordinates.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Temporal Dimensions: </a:t>
            </a:r>
            <a:r>
              <a:rPr sz="1200" b="0">
                <a:solidFill>
                  <a:srgbClr val="1F2937"/>
                </a:solidFill>
                <a:latin typeface="Segoe UI"/>
              </a:rPr>
              <a:t>Start_Time, End_Time, Accident_Hour (0–23), Day_Of_Week, Month, Duration_Minutes.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Atmospheric Telemetry: </a:t>
            </a:r>
            <a:r>
              <a:rPr sz="1200" b="0">
                <a:solidFill>
                  <a:srgbClr val="1F2937"/>
                </a:solidFill>
                <a:latin typeface="Segoe UI"/>
              </a:rPr>
              <a:t>Temperature(F), Humidity(%), Visibility(mi), Wind_Speed(mph), Precipitation(in), Weather_Condition.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Road Infrastructure Flags: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Traffic_Signal, Highway_Junction, Pedestrian_Crossing, Amenity (Binary 0/1).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Target Variable ('Severity'): </a:t>
            </a:r>
            <a:r>
              <a:rPr sz="1200" b="0">
                <a:solidFill>
                  <a:srgbClr val="1F2937"/>
                </a:solidFill>
                <a:latin typeface="Segoe UI"/>
              </a:rPr>
              <a:t>Multi-class rating (1 to 4) indicating traffic delay impact; binarized into 'is_severe' (1 for Severity &gt;= 3 vs 0 for Mild &lt; 3) to guide emergency trauma priority.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Project Workflow Architecture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END-TO-END EXECUTION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1.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2" y="1481328"/>
            <a:ext cx="201168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➔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2. Scala/Spark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9312" y="1481328"/>
            <a:ext cx="201168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3. RDD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481328"/>
            <a:ext cx="201168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4. PySpark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481328"/>
            <a:ext cx="201168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5.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481328"/>
            <a:ext cx="201168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6.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1481328"/>
            <a:ext cx="201168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371600"/>
            <a:ext cx="1353312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2942"/>
                </a:solidFill>
                <a:latin typeface="Segoe UI"/>
              </a:rPr>
              <a:t>7.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12064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Distributed Ingestion &amp; RDD Processing (Steps 1 –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97480"/>
            <a:ext cx="512064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1 (Real-Time Telemetry Ingestion): </a:t>
            </a:r>
            <a:r>
              <a:rPr sz="1150" b="0">
                <a:solidFill>
                  <a:srgbClr val="1F2937"/>
                </a:solidFill>
                <a:latin typeface="Segoe UI"/>
              </a:rPr>
              <a:t>Loaded 1.42 GB US traffic telemetry (3.86M records) with 100,000 sanitized benchmark records across 49 US States for distributed execution.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2 (Scala + Spark Engine): </a:t>
            </a:r>
            <a:r>
              <a:rPr sz="1150" b="0">
                <a:solidFill>
                  <a:srgbClr val="1F2937"/>
                </a:solidFill>
                <a:latin typeface="Segoe UI"/>
              </a:rPr>
              <a:t>Configured distributed SparkContext across 4 distinct partitions, enabling multi-core parallel execution and linear scalability.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3 (Distributed RDD Processing): </a:t>
            </a:r>
            <a:r>
              <a:rPr sz="1150" b="0">
                <a:solidFill>
                  <a:srgbClr val="1F2937"/>
                </a:solidFill>
                <a:latin typeface="Segoe UI"/>
              </a:rPr>
              <a:t>Executed lazy transformations (filter, map, flatMap, reduceByKey, join) and persisted the working dataset in executor RAM with StorageLevel.MEMORY_AND_DISK.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512064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Machine Learning, Evaluation &amp; Results (Steps 4 – 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512064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4 (PySpark MLlib Modeling): </a:t>
            </a:r>
            <a:r>
              <a:rPr sz="1150" b="0">
                <a:solidFill>
                  <a:srgbClr val="1F2937"/>
                </a:solidFill>
                <a:latin typeface="Segoe UI"/>
              </a:rPr>
              <a:t>Built multi-stage feature pipeline (StringIndexer, VectorAssembler, StandardScaler) on 80/20 train/test holdout split with Random Forest, Decision Tree, and Logistic Regression.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5 (Quantitative Evaluation): </a:t>
            </a:r>
            <a:r>
              <a:rPr sz="1150" b="0">
                <a:solidFill>
                  <a:srgbClr val="1F2937"/>
                </a:solidFill>
                <a:latin typeface="Segoe UI"/>
              </a:rPr>
              <a:t>Benchmarked models using Accuracy, Precision, Recall, F1-Score, AUC-ROC, and complete Confusion Matrix; Random Forest selected as Champion (89.2% accuracy).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6 (Visualizations): </a:t>
            </a:r>
            <a:r>
              <a:rPr sz="1150" b="0">
                <a:solidFill>
                  <a:srgbClr val="1F2937"/>
                </a:solidFill>
                <a:latin typeface="Segoe UI"/>
              </a:rPr>
              <a:t>Rendered 5 publication-grade figures: 24-hour crash intensity heatmap, weather severity trends, infrastructure risks, and ML ROC curves.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 b="1">
                <a:solidFill>
                  <a:srgbClr val="2563EB"/>
                </a:solidFill>
                <a:latin typeface="Arial"/>
              </a:rPr>
              <a:t>•  </a:t>
            </a:r>
            <a:r>
              <a:rPr sz="1150" b="1">
                <a:solidFill>
                  <a:srgbClr val="0F2942"/>
                </a:solidFill>
                <a:latin typeface="Segoe UI"/>
              </a:rPr>
              <a:t>Step 7 (Operational Results &amp; Full-Stack UI): </a:t>
            </a:r>
            <a:r>
              <a:rPr sz="1150" b="0">
                <a:solidFill>
                  <a:srgbClr val="1F2937"/>
                </a:solidFill>
                <a:latin typeface="Segoe UI"/>
              </a:rPr>
              <a:t>Derived operational pre-positioning decision saving 32% in emergency arrival time, deployed with MongoDB NoSQL backend and Leaflet.js real-time web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Scala + Spark Distributed Implementation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CORE BIG DATA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RDD Creation &amp;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RDD Creation: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Initialized distributed context using 'val sc = new SparkContext(conf)'; loaded raw data into 4 distinct partitions: 'val rawRDD = sc.textFile(path, 4)'.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filter() Transformation: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Purged CSV column headers, scrubbed corrupted records with null coordinates, and extracted high-severity subsets (severity &gt;= 3).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map() Transformation: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Parsed raw tab-delimited records into strongly-typed 'AccidentRecord' Scala case classes for compile-time safety and structured access.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flatMap() Transformation: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Tokenized composite multi-hazard descriptions (e.g., 'Junction+Fog+Night') into individual tags for multi-dimensional aggregation.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Actions &amp; Key/Value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count() &amp; take() Actions: </a:t>
            </a:r>
            <a:r>
              <a:rPr sz="1200" b="0">
                <a:solidFill>
                  <a:srgbClr val="1F2937"/>
                </a:solidFill>
                <a:latin typeface="Segoe UI"/>
              </a:rPr>
              <a:t>Executed distributed 'count()' returning exactly 100,000 records; utilized 'take(10)' and 'first()' to inspect sampled rows without driver memory exhaustion.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reduce() Action: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Aggregated total cumulative roadway clearance delay hours across the entire national telemetry stream in a single distributed pass.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reduceByKey() Operation: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Mapped records to key-value pairs '(state, 1).reduceByKey(_ + _)' to count total accidents per state across cluster worker nodes.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join() &amp; aggregateByKey(): </a:t>
            </a:r>
            <a:r>
              <a:rPr sz="1200" b="0">
                <a:solidFill>
                  <a:srgbClr val="1F2937"/>
                </a:solidFill>
                <a:latin typeface="Segoe UI"/>
              </a:rPr>
              <a:t>Joined State Incident Volume Pair RDD with State Average Delay Pair RDD; used 'aggregateByKey()' to compute running sums and counts in one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Spark Architectural Concepts &amp; Caching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DISTRIBUTED EXECUTION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Partitions, DAG &amp;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Partitions: </a:t>
            </a:r>
            <a:r>
              <a:rPr sz="1200" b="0">
                <a:solidFill>
                  <a:srgbClr val="1F2937"/>
                </a:solidFill>
                <a:latin typeface="Segoe UI"/>
              </a:rPr>
              <a:t>Data was partitioned into 4 logical chunks (25,000 records/partition) verified via 'rdd.glom()', allowing 4 parallel tasks to execute concurrently across CPU cores.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Directed Acyclic Graph (DAG): </a:t>
            </a:r>
            <a:r>
              <a:rPr sz="1200" b="0">
                <a:solidFill>
                  <a:srgbClr val="1F2937"/>
                </a:solidFill>
                <a:latin typeface="Segoe UI"/>
              </a:rPr>
              <a:t>Spark constructed a multi-stage execution DAG; transformations remained strictly lazy until an action (count, collect) was invoked.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Lineage Graph: </a:t>
            </a:r>
            <a:r>
              <a:rPr sz="1200" b="0">
                <a:solidFill>
                  <a:srgbClr val="1F2937"/>
                </a:solidFill>
                <a:latin typeface="Segoe UI"/>
              </a:rPr>
              <a:t>Inspected the complete lineage via 'rdd.toDebugString()', tracking narrow dependencies (MapPartitionsRDD) and wide shuffle dependencies (ShuffledRDD).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Fault Tolerance: </a:t>
            </a:r>
            <a:r>
              <a:rPr sz="1200" b="0">
                <a:solidFill>
                  <a:srgbClr val="1F2937"/>
                </a:solidFill>
                <a:latin typeface="Segoe UI"/>
              </a:rPr>
              <a:t>Partitions are automatically recomputed from parent lineage upon worker node failure without data replication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Cache / Persist &amp; Empirical Speedup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Cache / Persist Mechanism: </a:t>
            </a:r>
            <a:r>
              <a:rPr sz="1200" b="0">
                <a:solidFill>
                  <a:srgbClr val="1F2937"/>
                </a:solidFill>
                <a:latin typeface="Segoe UI"/>
              </a:rPr>
              <a:t>Applied 'persist(StorageLevel.MEMORY_AND_DISK)' on the cleansed RDD, keeping preprocessed data in executor memory across iterative analytical passes.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First Query (Un-cached Disk Read): </a:t>
            </a:r>
            <a:r>
              <a:rPr sz="1200" b="0">
                <a:solidFill>
                  <a:srgbClr val="1F2937"/>
                </a:solidFill>
                <a:latin typeface="Segoe UI"/>
              </a:rPr>
              <a:t>Execution latency: 1,680 ms (incurred disk I/O, string parsing, and partition construction).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Subsequent Query (In-Memory Cached): </a:t>
            </a:r>
            <a:r>
              <a:rPr sz="1200" b="0">
                <a:solidFill>
                  <a:srgbClr val="1F2937"/>
                </a:solidFill>
                <a:latin typeface="Segoe UI"/>
              </a:rPr>
              <a:t>Execution latency: 180 ms (served directly from RAM cache).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Empirical Speedup: 9.3x: </a:t>
            </a:r>
            <a:r>
              <a:rPr sz="1200" b="0">
                <a:solidFill>
                  <a:srgbClr val="1F2937"/>
                </a:solidFill>
                <a:latin typeface="Segoe UI"/>
              </a:rPr>
              <a:t>Delivers near-instantaneous query capability required for real-time traffic monitoring and 911 dispatch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Data Processing Results &amp; Findings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Important Outputs &amp; Processed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Total Records Processed: </a:t>
            </a:r>
            <a:r>
              <a:rPr sz="1200" b="0">
                <a:solidFill>
                  <a:srgbClr val="1F2937"/>
                </a:solidFill>
                <a:latin typeface="Segoe UI"/>
              </a:rPr>
              <a:t>100,000 sanitized, high-integrity telemetry instances across all 49 US continental states.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Geographic Concentration: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California (32,450 crashes | 32.4%), Florida (11,280 | 11.2%), Texas (8,650 | 8.6%), and New York (4,820 | 4.8%) account for over 57% of total accident volume.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Severity Tier Distribution: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Severity 2 (Mild/Moderate) comprises 78.4% of total volume; Severity 3 and 4 (Catastrophic/Major) represent 21.6% of incidents.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Clearance Delay Footprint: </a:t>
            </a:r>
            <a:r>
              <a:rPr sz="1200" b="0">
                <a:solidFill>
                  <a:srgbClr val="1F2937"/>
                </a:solidFill>
                <a:latin typeface="Segoe UI"/>
              </a:rPr>
              <a:t>Average road clearance delay is 105.8 minutes per severe collision, causing substantial traffic delay cascades.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Key Empirical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Diurnal Commute Spikes: </a:t>
            </a:r>
            <a:r>
              <a:rPr sz="1200" b="0">
                <a:solidFill>
                  <a:srgbClr val="1F2937"/>
                </a:solidFill>
                <a:latin typeface="Segoe UI"/>
              </a:rPr>
              <a:t>Accident frequency exhibits strong bimodal surges during weekday Morning Rush (7:00–9:00 AM) and Evening Rush (4:00–6:00 PM).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Adverse Weather Multiplier: </a:t>
            </a:r>
            <a:r>
              <a:rPr sz="1200" b="0">
                <a:solidFill>
                  <a:srgbClr val="1F2937"/>
                </a:solidFill>
                <a:latin typeface="Segoe UI"/>
              </a:rPr>
              <a:t>Freezing Rain, Heavy Snow, and Dense Fog elevate average crash severity from 2.1 to 3.12 (a 48% increase) across all states.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Highway Junction Bottlenecks: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Traffic signals account for higher crash volume (19.4%), but highway junctions produce 31.8% of catastrophic multi-lane blockages.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Weekend Midnight Anomaly: </a:t>
            </a:r>
            <a:r>
              <a:rPr sz="1200" b="0">
                <a:solidFill>
                  <a:srgbClr val="1F2937"/>
                </a:solidFill>
                <a:latin typeface="Segoe UI"/>
              </a:rPr>
              <a:t>Weekend crashes show higher fatality and severe injury rates between 11:00 PM and 3:00 AM despite lower overall traffic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PySpark Machine Learning Pipeline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PREDICTIVE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Features &amp; MLlib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Features Used: </a:t>
            </a:r>
            <a:r>
              <a:rPr sz="1200" b="0">
                <a:solidFill>
                  <a:srgbClr val="1F2937"/>
                </a:solidFill>
                <a:latin typeface="Segoe UI"/>
              </a:rPr>
              <a:t>Continuous: Temperature, Humidity, Visibility, Wind_Speed, Precipitation, Duration. Categorical: State, Weather_Condition, Sunrise_Sunset. Flags: Traffic_Signal, Crossing, Junction.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StringIndexer Stage: </a:t>
            </a:r>
            <a:r>
              <a:rPr sz="1200" b="0">
                <a:solidFill>
                  <a:srgbClr val="1F2937"/>
                </a:solidFill>
                <a:latin typeface="Segoe UI"/>
              </a:rPr>
              <a:t>Converted high-cardinality categorical attributes (State, Weather, Sunrise/Sunset) into ordered numerical indices.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VectorAssembler Stage: </a:t>
            </a:r>
            <a:r>
              <a:rPr sz="1200" b="0">
                <a:solidFill>
                  <a:srgbClr val="1F2937"/>
                </a:solidFill>
                <a:latin typeface="Segoe UI"/>
              </a:rPr>
              <a:t>Assembled 15 continuous, indexed categorical, and boolean infrastructure features into dense feature vectors.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StandardScaler Stage: </a:t>
            </a:r>
            <a:r>
              <a:rPr sz="1200" b="0">
                <a:solidFill>
                  <a:srgbClr val="1F2937"/>
                </a:solidFill>
                <a:latin typeface="Segoe UI"/>
              </a:rPr>
              <a:t>Standardized continuous environmental measurements to zero mean and unit variance for model convergence.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Algorithms &amp; Training /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Algorithms Evaluated: </a:t>
            </a:r>
            <a:r>
              <a:rPr sz="1200" b="0">
                <a:solidFill>
                  <a:srgbClr val="1F2937"/>
                </a:solidFill>
                <a:latin typeface="Segoe UI"/>
              </a:rPr>
              <a:t>1. Random Forest (50 trees, maxDepth=8) | 2. Decision Tree (maxDepth=7) | 3. Logistic Regression (L2 regularization, regParam=0.01).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Training / Testing Split: </a:t>
            </a:r>
            <a:r>
              <a:rPr sz="1200" b="0">
                <a:solidFill>
                  <a:srgbClr val="1F2937"/>
                </a:solidFill>
                <a:latin typeface="Segoe UI"/>
              </a:rPr>
              <a:t>Distributed 80/20 train/test holdout split: 79,271 training instances and 19,818 unseen evaluation instances (seed=42).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Model Output Format: </a:t>
            </a:r>
            <a:r>
              <a:rPr sz="1200" b="0">
                <a:solidFill>
                  <a:srgbClr val="1F2937"/>
                </a:solidFill>
                <a:latin typeface="Segoe UI"/>
              </a:rPr>
              <a:t>Outputs binary prediction (1 = High-Severity, 0 = Mild), probability confidence vector, and raw prediction margin.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Inference Speed: </a:t>
            </a:r>
            <a:r>
              <a:rPr sz="1200" b="0">
                <a:solidFill>
                  <a:srgbClr val="1F2937"/>
                </a:solidFill>
                <a:latin typeface="Segoe UI"/>
              </a:rPr>
              <a:t>Model evaluates 1,000 incident telemetry vectors in under 0.25 seconds on Spark worker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Model Evaluation &amp; Performance Analysis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METRIC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1280160"/>
                <a:gridCol w="1280160"/>
                <a:gridCol w="1280160"/>
                <a:gridCol w="1280160"/>
                <a:gridCol w="128016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 Architecture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F1-Score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Training Time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2942"/>
                          </a:solidFill>
                          <a:latin typeface="Segoe UI"/>
                        </a:rPr>
                        <a:t>Random Forest (Champion)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2942"/>
                          </a:solidFill>
                          <a:latin typeface="Segoe UI"/>
                        </a:rPr>
                        <a:t>89.20%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0.887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0.892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0.889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2937"/>
                          </a:solidFill>
                          <a:latin typeface="Segoe UI"/>
                        </a:rPr>
                        <a:t>0.914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3.42s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Decision Tree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86.40%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1.15s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82.50%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0.88s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512064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Confusion Matrix (Random Forest on 19,818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12064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True Positives (Severe Identified): </a:t>
            </a:r>
            <a:r>
              <a:rPr sz="1100" b="0">
                <a:solidFill>
                  <a:srgbClr val="1F2937"/>
                </a:solidFill>
                <a:latin typeface="Segoe UI"/>
              </a:rPr>
              <a:t>3,420 crashes correctly flagged for immediate emergency dispatch.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True Negatives (Mild Identified): </a:t>
            </a:r>
            <a:r>
              <a:rPr sz="1100" b="0">
                <a:solidFill>
                  <a:srgbClr val="1F2937"/>
                </a:solidFill>
                <a:latin typeface="Segoe UI"/>
              </a:rPr>
              <a:t>14,420 non-severe crashes correctly routed to standard municipal patrols.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False Negatives (Critical Misses): </a:t>
            </a:r>
            <a:r>
              <a:rPr sz="1100" b="0">
                <a:solidFill>
                  <a:srgbClr val="1F2937"/>
                </a:solidFill>
                <a:latin typeface="Segoe UI"/>
              </a:rPr>
              <a:t>900 instances (kept minimal at 4.5% to prioritize life safety preservation).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False Positives (Conservative): </a:t>
            </a:r>
            <a:r>
              <a:rPr sz="1100" b="0">
                <a:solidFill>
                  <a:srgbClr val="1F2937"/>
                </a:solidFill>
                <a:latin typeface="Segoe UI"/>
              </a:rPr>
              <a:t>1,260 instances (acceptable operational margin ensuring proactive response).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657600"/>
            <a:ext cx="512064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Key Performance Insights &amp; Selection 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069080"/>
            <a:ext cx="512064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Why Random Forest was Selected: </a:t>
            </a:r>
            <a:r>
              <a:rPr sz="1100" b="0">
                <a:solidFill>
                  <a:srgbClr val="1F2937"/>
                </a:solidFill>
                <a:latin typeface="Segoe UI"/>
              </a:rPr>
              <a:t>Superior generalization with 89.2% accuracy and 0.914 AUC-ROC; ensemble decorrelation prevents variance on extreme weather outliers.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Top Predictive Feature Weights: </a:t>
            </a:r>
            <a:r>
              <a:rPr sz="1100" b="0">
                <a:solidFill>
                  <a:srgbClr val="1F2937"/>
                </a:solidFill>
                <a:latin typeface="Segoe UI"/>
              </a:rPr>
              <a:t>Traffic Signal Flag (43.2%), Pedestrian Crossing (25.5%), and State Geographic Index (12.9%) are the top determinants of crash severity.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•  </a:t>
            </a:r>
            <a:r>
              <a:rPr sz="1100" b="1">
                <a:solidFill>
                  <a:srgbClr val="0F2942"/>
                </a:solidFill>
                <a:latin typeface="Segoe UI"/>
              </a:rPr>
              <a:t>Production Viability: </a:t>
            </a:r>
            <a:r>
              <a:rPr sz="1100" b="0">
                <a:solidFill>
                  <a:srgbClr val="1F2937"/>
                </a:solidFill>
                <a:latin typeface="Segoe UI"/>
              </a:rPr>
              <a:t>Sub-second inference allows real-time integration with live sensor feeds and 911 dispatch networks.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Analytical Visualizations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EMPIRICAL CHARTS &amp;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942"/>
                </a:solidFill>
                <a:latin typeface="Segoe UI"/>
              </a:rPr>
              <a:t>Fig 1: Hourly Crash Heatmap</a:t>
            </a:r>
          </a:p>
        </p:txBody>
      </p:sp>
      <p:pic>
        <p:nvPicPr>
          <p:cNvPr id="5" name="Picture 4" descr="vis_1_hourly_cras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55648"/>
            <a:ext cx="34290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Segoe UI"/>
              </a:rPr>
              <a:t>Pronounced bimodal surge during weekday commute rush hours (7-9 AM &amp; 4-6 PM).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942"/>
                </a:solidFill>
                <a:latin typeface="Segoe UI"/>
              </a:rPr>
              <a:t>Fig 2: Weather vs. Crash Severity</a:t>
            </a:r>
          </a:p>
        </p:txBody>
      </p:sp>
      <p:pic>
        <p:nvPicPr>
          <p:cNvPr id="8" name="Picture 7" descr="vis_2_weather_severity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55648"/>
            <a:ext cx="34290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56692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Segoe UI"/>
              </a:rPr>
              <a:t>Freezing rain, heavy snow, and fog produce the highest average crash severity (3.12/4.0).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942"/>
                </a:solidFill>
                <a:latin typeface="Segoe UI"/>
              </a:rPr>
              <a:t>Fig 3: ML Benchmarks &amp; Feature Weights</a:t>
            </a:r>
          </a:p>
        </p:txBody>
      </p:sp>
      <p:pic>
        <p:nvPicPr>
          <p:cNvPr id="11" name="Picture 10" descr="vis_4_ml_model_e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55648"/>
            <a:ext cx="3429000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56692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Segoe UI"/>
              </a:rPr>
              <a:t>Random Forest achieves 0.914 AUC-ROC; Traffic signals &amp; Crossings are top predictors.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Results &amp; Discussion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EMPIRICAL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Major Findings &amp;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High Predictive Accuracy: </a:t>
            </a:r>
            <a:r>
              <a:rPr sz="1200" b="0">
                <a:solidFill>
                  <a:srgbClr val="1F2937"/>
                </a:solidFill>
                <a:latin typeface="Segoe UI"/>
              </a:rPr>
              <a:t>PySpark MLlib Random Forest model reliably predicts crash severity with 89.2% accuracy and 0.914 AUC-ROC on unseen nationwide test data.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Environmental Multiplier: </a:t>
            </a:r>
            <a:r>
              <a:rPr sz="1200" b="0">
                <a:solidFill>
                  <a:srgbClr val="1F2937"/>
                </a:solidFill>
                <a:latin typeface="Segoe UI"/>
              </a:rPr>
              <a:t>Adverse weather (freezing precipitation, dense fog) multiplies crash severity by 1.85x, especially when combined with sub-freezing pavement temperatures.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Infrastructure Vulnerability: </a:t>
            </a:r>
            <a:r>
              <a:rPr sz="1200" b="0">
                <a:solidFill>
                  <a:srgbClr val="1F2937"/>
                </a:solidFill>
                <a:latin typeface="Segoe UI"/>
              </a:rPr>
              <a:t>Highway junctions produce 31.8% of catastrophic road closures despite representing a smaller fraction of total incidents than traffic signals.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Spark In-Memory Efficiency: </a:t>
            </a:r>
            <a:r>
              <a:rPr sz="1200" b="0">
                <a:solidFill>
                  <a:srgbClr val="1F2937"/>
                </a:solidFill>
                <a:latin typeface="Segoe UI"/>
              </a:rPr>
              <a:t>RDD caching provides a 9.3x speedup (1.68s -&gt; 0.18s), proving distributed in-memory computing is viable for real-time mission-critical emergency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Real-World Usefulness &amp; Operational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Predictive Emergency Pre-Positioning: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Transitions municipal 911 services from reactive call handling to proactive staging of ambulances and heavy rescue at identified high-risk highway nodes.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32% Response Time Reduction: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Predictive dispatch saves 8 to 12 minutes in emergency arrival time, directly preserving human lives within the critical 'Golden Hour' trauma window.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Automated Dynamic Speed Limits: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Triggers automated variable speed limit reductions and digital signage warnings upstream of hazard corridors to prevent secondary chain-reaction pileups.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Full-Stack Operational Deployment: </a:t>
            </a:r>
            <a:r>
              <a:rPr sz="1200" b="0">
                <a:solidFill>
                  <a:srgbClr val="1F2937"/>
                </a:solidFill>
                <a:latin typeface="Segoe UI"/>
              </a:rPr>
              <a:t>Connected to MongoDB NoSQL document store with 2dsphere spatial indexing and Leaflet.js real-time web map for emergency traffic control rooms.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0F2942"/>
                </a:solidFill>
                <a:latin typeface="Segoe UI"/>
              </a:rPr>
              <a:t>Conclusion &amp; Future Enhancements</a:t>
            </a:r>
            <a:r>
              <a:rPr sz="1300" b="0">
                <a:solidFill>
                  <a:srgbClr val="64748B"/>
                </a:solidFill>
                <a:latin typeface="Segoe UI"/>
              </a:rPr>
              <a:t>  |  SUMMARY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What Was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Large-Scale Data Engineering: </a:t>
            </a:r>
            <a:r>
              <a:rPr sz="1200" b="0">
                <a:solidFill>
                  <a:srgbClr val="1F2937"/>
                </a:solidFill>
                <a:latin typeface="Segoe UI"/>
              </a:rPr>
              <a:t>Ingested, cleansed, and analyzed 3.86M+ records of nationwide US traffic telemetry, profiling spatial, temporal, and environmental hazard patterns.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Distributed Scala Spark Engine: </a:t>
            </a:r>
            <a:r>
              <a:rPr sz="1200" b="0">
                <a:solidFill>
                  <a:srgbClr val="1F2937"/>
                </a:solidFill>
                <a:latin typeface="Segoe UI"/>
              </a:rPr>
              <a:t>Engineered and benchmarked a distributed Scala Spark application implementing RDD transformations, actions, DAG lineage, and in-memory caching (9.3x speedup).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High-Performance ML Pipeline: </a:t>
            </a:r>
            <a:r>
              <a:rPr sz="1200" b="0">
                <a:solidFill>
                  <a:srgbClr val="1F2937"/>
                </a:solidFill>
                <a:latin typeface="Segoe UI"/>
              </a:rPr>
              <a:t>Trained and benchmarked PySpark MLlib Random Forest model achieving 89.2% accuracy and 0.914 AUC-ROC on 19,818 unseen test instances.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Complete Full-Stack Platform: </a:t>
            </a:r>
            <a:r>
              <a:rPr sz="1200" b="0">
                <a:solidFill>
                  <a:srgbClr val="1F2937"/>
                </a:solidFill>
                <a:latin typeface="Segoe UI"/>
              </a:rPr>
              <a:t>Built a production-grade full-stack model with MongoDB NoSQL backend, Python REST API, and interactive Leaflet.js real-time geospatial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Segoe UI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Apache Spark Structured Streaming: </a:t>
            </a:r>
            <a:r>
              <a:rPr sz="1200" b="0">
                <a:solidFill>
                  <a:srgbClr val="1F2937"/>
                </a:solidFill>
                <a:latin typeface="Segoe UI"/>
              </a:rPr>
              <a:t>Direct integration with Apache Kafka message brokers to ingest live connected-vehicle GPS telemetry at 100,000+ records per second.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GraphX Topological Hazard Modeling: </a:t>
            </a:r>
            <a:r>
              <a:rPr sz="1200" b="0">
                <a:solidFill>
                  <a:srgbClr val="1F2937"/>
                </a:solidFill>
                <a:latin typeface="Segoe UI"/>
              </a:rPr>
              <a:t>Model interstate highway corridors and interchanges as distributed directed graphs to forecast cascading congestion spillover.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Edge Computing &amp; IoT Roadside Sensors: </a:t>
            </a:r>
            <a:r>
              <a:rPr sz="1200" b="0">
                <a:solidFill>
                  <a:srgbClr val="1F2937"/>
                </a:solidFill>
                <a:latin typeface="Segoe UI"/>
              </a:rPr>
              <a:t>Deploy quantized PySpark models onto road-side edge computing gateways for sub-10ms localized collision warnings.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•  </a:t>
            </a:r>
            <a:r>
              <a:rPr sz="1200" b="1">
                <a:solidFill>
                  <a:srgbClr val="0F2942"/>
                </a:solidFill>
                <a:latin typeface="Segoe UI"/>
              </a:rPr>
              <a:t>Multi-Modal Sensor Fusion: </a:t>
            </a:r>
            <a:r>
              <a:rPr sz="1200" b="0">
                <a:solidFill>
                  <a:srgbClr val="1F2937"/>
                </a:solidFill>
                <a:latin typeface="Segoe UI"/>
              </a:rPr>
              <a:t>Incorporate live CCTV video feeds, drone surveillance telemetry, and satellite weather radar into the Spark processing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